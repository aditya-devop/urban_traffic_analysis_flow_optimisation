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8F3D7-F362-4122-A361-DC1FA964B0DE}" v="37" dt="2025-02-12T08:08:43.7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9104-1264-40A8-A75C-C33C9D67E0BE}" type="datetimeFigureOut">
              <a:rPr lang="en-IN" smtClean="0"/>
              <a:t>12-02-2025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AABA97-B217-43E0-96E4-B9691FB5FBC0}" type="slidenum">
              <a:rPr lang="en-IN" smtClean="0"/>
              <a:t>‹#›</a:t>
            </a:fld>
            <a:endParaRPr lang="en-IN"/>
          </a:p>
        </p:txBody>
      </p:sp>
    </p:spTree>
    <p:extLst>
      <p:ext uri="{BB962C8B-B14F-4D97-AF65-F5344CB8AC3E}">
        <p14:creationId xmlns:p14="http://schemas.microsoft.com/office/powerpoint/2010/main" val="3576136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BAABA97-B217-43E0-96E4-B9691FB5FBC0}" type="slidenum">
              <a:rPr lang="en-IN" smtClean="0"/>
              <a:t>2</a:t>
            </a:fld>
            <a:endParaRPr lang="en-IN"/>
          </a:p>
        </p:txBody>
      </p:sp>
    </p:spTree>
    <p:extLst>
      <p:ext uri="{BB962C8B-B14F-4D97-AF65-F5344CB8AC3E}">
        <p14:creationId xmlns:p14="http://schemas.microsoft.com/office/powerpoint/2010/main" val="2004813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5F9BF4-BBAE-48C2-A5E3-4BEB31247D1A}"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243310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5F9BF4-BBAE-48C2-A5E3-4BEB31247D1A}"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4291228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F9BF4-BBAE-48C2-A5E3-4BEB31247D1A}"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1823390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5F9BF4-BBAE-48C2-A5E3-4BEB31247D1A}"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1857796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5F9BF4-BBAE-48C2-A5E3-4BEB31247D1A}" type="datetimeFigureOut">
              <a:rPr lang="en-IN" smtClean="0"/>
              <a:t>12-02-2025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1649046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5F9BF4-BBAE-48C2-A5E3-4BEB31247D1A}" type="datetimeFigureOut">
              <a:rPr lang="en-IN" smtClean="0"/>
              <a:t>12-02-2025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285633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5F9BF4-BBAE-48C2-A5E3-4BEB31247D1A}" type="datetimeFigureOut">
              <a:rPr lang="en-IN" smtClean="0"/>
              <a:t>12-02-2025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878542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5F9BF4-BBAE-48C2-A5E3-4BEB31247D1A}"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3280650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5F9BF4-BBAE-48C2-A5E3-4BEB31247D1A}"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122054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5F9BF4-BBAE-48C2-A5E3-4BEB31247D1A}"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380701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5F9BF4-BBAE-48C2-A5E3-4BEB31247D1A}"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481619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5F9BF4-BBAE-48C2-A5E3-4BEB31247D1A}"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53E519-C48D-48B4-AEF9-444B70A5B898}"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3343019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5F9BF4-BBAE-48C2-A5E3-4BEB31247D1A}"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29701510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A5F9BF4-BBAE-48C2-A5E3-4BEB31247D1A}" type="datetimeFigureOut">
              <a:rPr lang="en-IN" smtClean="0"/>
              <a:t>12-02-2025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432624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A5F9BF4-BBAE-48C2-A5E3-4BEB31247D1A}" type="datetimeFigureOut">
              <a:rPr lang="en-IN" smtClean="0"/>
              <a:t>12-02-2025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27745665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5F9BF4-BBAE-48C2-A5E3-4BEB31247D1A}"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1749603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5F9BF4-BBAE-48C2-A5E3-4BEB31247D1A}"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53E519-C48D-48B4-AEF9-444B70A5B898}" type="slidenum">
              <a:rPr lang="en-IN" smtClean="0"/>
              <a:t>‹#›</a:t>
            </a:fld>
            <a:endParaRPr lang="en-IN"/>
          </a:p>
        </p:txBody>
      </p:sp>
    </p:spTree>
    <p:extLst>
      <p:ext uri="{BB962C8B-B14F-4D97-AF65-F5344CB8AC3E}">
        <p14:creationId xmlns:p14="http://schemas.microsoft.com/office/powerpoint/2010/main" val="1707780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A5F9BF4-BBAE-48C2-A5E3-4BEB31247D1A}" type="datetimeFigureOut">
              <a:rPr lang="en-IN" smtClean="0"/>
              <a:t>12-02-2025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B53E519-C48D-48B4-AEF9-444B70A5B898}" type="slidenum">
              <a:rPr lang="en-IN" smtClean="0"/>
              <a:t>‹#›</a:t>
            </a:fld>
            <a:endParaRPr lang="en-IN"/>
          </a:p>
        </p:txBody>
      </p:sp>
    </p:spTree>
    <p:extLst>
      <p:ext uri="{BB962C8B-B14F-4D97-AF65-F5344CB8AC3E}">
        <p14:creationId xmlns:p14="http://schemas.microsoft.com/office/powerpoint/2010/main" val="2705166641"/>
      </p:ext>
    </p:extLst>
  </p:cSld>
  <p:clrMap bg1="dk1" tx1="lt1" bg2="dk2" tx2="lt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colab.research.google.com/drive/15Kmy56K3DiOWMuBODpZChRXhHVMDL59n?usp=sharing" TargetMode="External"/><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ithub.com/Aditya-devop/Urban_Traffic_Analysis_Flow_Optimisation"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6602-4CAF-4B2D-779B-DD3587F1E2A6}"/>
              </a:ext>
            </a:extLst>
          </p:cNvPr>
          <p:cNvSpPr>
            <a:spLocks noGrp="1"/>
          </p:cNvSpPr>
          <p:nvPr>
            <p:ph type="ctrTitle"/>
          </p:nvPr>
        </p:nvSpPr>
        <p:spPr>
          <a:xfrm>
            <a:off x="0" y="44524"/>
            <a:ext cx="3667432" cy="383458"/>
          </a:xfrm>
        </p:spPr>
        <p:txBody>
          <a:bodyPr>
            <a:normAutofit fontScale="90000"/>
          </a:bodyPr>
          <a:lstStyle/>
          <a:p>
            <a:r>
              <a:rPr lang="en-US" sz="2400" b="1">
                <a:latin typeface="Aptos" panose="020B0004020202020204" pitchFamily="34" charset="0"/>
              </a:rPr>
              <a:t>Aditya Shriwal (22BCE2132)</a:t>
            </a:r>
            <a:endParaRPr lang="en-IN" sz="2400" b="1">
              <a:latin typeface="Aptos" panose="020B0004020202020204" pitchFamily="34" charset="0"/>
            </a:endParaRPr>
          </a:p>
        </p:txBody>
      </p:sp>
      <p:sp>
        <p:nvSpPr>
          <p:cNvPr id="3" name="Subtitle 2">
            <a:extLst>
              <a:ext uri="{FF2B5EF4-FFF2-40B4-BE49-F238E27FC236}">
                <a16:creationId xmlns:a16="http://schemas.microsoft.com/office/drawing/2014/main" id="{08BC548A-1104-B73A-6E27-CD8EC1F4C4B6}"/>
              </a:ext>
            </a:extLst>
          </p:cNvPr>
          <p:cNvSpPr>
            <a:spLocks noGrp="1"/>
          </p:cNvSpPr>
          <p:nvPr>
            <p:ph type="subTitle" idx="1"/>
          </p:nvPr>
        </p:nvSpPr>
        <p:spPr>
          <a:xfrm>
            <a:off x="32034" y="315352"/>
            <a:ext cx="5240594" cy="501445"/>
          </a:xfrm>
        </p:spPr>
        <p:txBody>
          <a:bodyPr>
            <a:normAutofit fontScale="92500"/>
          </a:bodyPr>
          <a:lstStyle/>
          <a:p>
            <a:r>
              <a:rPr lang="en-IN" sz="2800" b="1">
                <a:effectLst/>
                <a:latin typeface="Aptos" panose="020B0004020202020204" pitchFamily="34" charset="0"/>
                <a:ea typeface="Aptos" panose="020B0004020202020204" pitchFamily="34" charset="0"/>
                <a:cs typeface="Arial" panose="020B0604020202020204" pitchFamily="34" charset="0"/>
              </a:rPr>
              <a:t>Urban Traffic Flow Optimization</a:t>
            </a:r>
            <a:endParaRPr lang="en-IN" sz="3200"/>
          </a:p>
        </p:txBody>
      </p:sp>
      <p:sp>
        <p:nvSpPr>
          <p:cNvPr id="5" name="TextBox 4">
            <a:extLst>
              <a:ext uri="{FF2B5EF4-FFF2-40B4-BE49-F238E27FC236}">
                <a16:creationId xmlns:a16="http://schemas.microsoft.com/office/drawing/2014/main" id="{AF7C9BDF-2159-7454-4CFE-1F0C121291D2}"/>
              </a:ext>
            </a:extLst>
          </p:cNvPr>
          <p:cNvSpPr txBox="1"/>
          <p:nvPr/>
        </p:nvSpPr>
        <p:spPr>
          <a:xfrm>
            <a:off x="-91604" y="682170"/>
            <a:ext cx="5516187" cy="646331"/>
          </a:xfrm>
          <a:prstGeom prst="rect">
            <a:avLst/>
          </a:prstGeom>
          <a:noFill/>
        </p:spPr>
        <p:txBody>
          <a:bodyPr wrap="square">
            <a:spAutoFit/>
          </a:bodyPr>
          <a:lstStyle/>
          <a:p>
            <a:pPr algn="ctr"/>
            <a:r>
              <a:rPr lang="en-IN">
                <a:latin typeface="Aptos" panose="020B0004020202020204" pitchFamily="34" charset="0"/>
                <a:ea typeface="Aptos" panose="020B0004020202020204" pitchFamily="34" charset="0"/>
                <a:cs typeface="Arial" panose="020B0604020202020204" pitchFamily="34" charset="0"/>
              </a:rPr>
              <a:t>P</a:t>
            </a:r>
            <a:r>
              <a:rPr lang="en-IN" sz="1800">
                <a:effectLst/>
                <a:latin typeface="Aptos" panose="020B0004020202020204" pitchFamily="34" charset="0"/>
                <a:ea typeface="Aptos" panose="020B0004020202020204" pitchFamily="34" charset="0"/>
                <a:cs typeface="Arial" panose="020B0604020202020204" pitchFamily="34" charset="0"/>
              </a:rPr>
              <a:t>atterns and trends in traffic flow at different intersections and times of the day.</a:t>
            </a:r>
            <a:endParaRPr lang="en-IN"/>
          </a:p>
        </p:txBody>
      </p:sp>
      <p:pic>
        <p:nvPicPr>
          <p:cNvPr id="1038" name="Picture 14">
            <a:extLst>
              <a:ext uri="{FF2B5EF4-FFF2-40B4-BE49-F238E27FC236}">
                <a16:creationId xmlns:a16="http://schemas.microsoft.com/office/drawing/2014/main" id="{10C8FCFA-1917-DFEE-6CB0-56FB0BA2F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031652"/>
            <a:ext cx="5304660" cy="218626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4D0FA70-BD1E-72A8-0A03-9561A87871A9}"/>
              </a:ext>
            </a:extLst>
          </p:cNvPr>
          <p:cNvSpPr txBox="1"/>
          <p:nvPr/>
        </p:nvSpPr>
        <p:spPr>
          <a:xfrm>
            <a:off x="5881653" y="0"/>
            <a:ext cx="6227180" cy="369332"/>
          </a:xfrm>
          <a:prstGeom prst="rect">
            <a:avLst/>
          </a:prstGeom>
          <a:noFill/>
        </p:spPr>
        <p:txBody>
          <a:bodyPr wrap="square">
            <a:spAutoFit/>
          </a:bodyPr>
          <a:lstStyle/>
          <a:p>
            <a:r>
              <a:rPr lang="en-IN">
                <a:latin typeface="Aptos" panose="020B0004020202020204" pitchFamily="34" charset="0"/>
                <a:ea typeface="Aptos" panose="020B0004020202020204" pitchFamily="34" charset="0"/>
                <a:cs typeface="Arial" panose="020B0604020202020204" pitchFamily="34" charset="0"/>
              </a:rPr>
              <a:t>R</a:t>
            </a:r>
            <a:r>
              <a:rPr lang="en-IN" sz="1800">
                <a:effectLst/>
                <a:latin typeface="Aptos" panose="020B0004020202020204" pitchFamily="34" charset="0"/>
                <a:ea typeface="Aptos" panose="020B0004020202020204" pitchFamily="34" charset="0"/>
                <a:cs typeface="Arial" panose="020B0604020202020204" pitchFamily="34" charset="0"/>
              </a:rPr>
              <a:t>elationship between traffic flow and traffic signal timings.</a:t>
            </a:r>
            <a:endParaRPr lang="en-IN"/>
          </a:p>
        </p:txBody>
      </p:sp>
      <p:pic>
        <p:nvPicPr>
          <p:cNvPr id="1046" name="Picture 22">
            <a:extLst>
              <a:ext uri="{FF2B5EF4-FFF2-40B4-BE49-F238E27FC236}">
                <a16:creationId xmlns:a16="http://schemas.microsoft.com/office/drawing/2014/main" id="{66D70589-F6DB-FAB5-F37A-F2C5DC074D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36641" y="4993447"/>
            <a:ext cx="3055359" cy="1817899"/>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4FDCF6D3-3AB8-B355-EDDB-2BFFDD96A4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353111"/>
            <a:ext cx="4196080" cy="1654938"/>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6B1FA1BF-B1B1-88B0-6E74-1370818B39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6897" y="340269"/>
            <a:ext cx="3889141" cy="2221285"/>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a:extLst>
              <a:ext uri="{FF2B5EF4-FFF2-40B4-BE49-F238E27FC236}">
                <a16:creationId xmlns:a16="http://schemas.microsoft.com/office/drawing/2014/main" id="{1E7A6F95-0865-68AE-C17F-05399BF6AF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8624" y="2561554"/>
            <a:ext cx="4009727" cy="1791928"/>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
            <a:extLst>
              <a:ext uri="{FF2B5EF4-FFF2-40B4-BE49-F238E27FC236}">
                <a16:creationId xmlns:a16="http://schemas.microsoft.com/office/drawing/2014/main" id="{A3226C7D-5060-241F-67B3-A3615D04192E}"/>
              </a:ext>
            </a:extLst>
          </p:cNvPr>
          <p:cNvSpPr>
            <a:spLocks noChangeArrowheads="1"/>
          </p:cNvSpPr>
          <p:nvPr/>
        </p:nvSpPr>
        <p:spPr bwMode="auto">
          <a:xfrm>
            <a:off x="0" y="2962457"/>
            <a:ext cx="5304660" cy="109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Aptos" panose="020B0004020202020204" pitchFamily="34" charset="0"/>
                <a:cs typeface="Arial" panose="020B0604020202020204" pitchFamily="34" charset="0"/>
              </a:rPr>
              <a:t>The morning (7-10 AM) and evening (5-8 PM) peaks are the busiest times for traffic. Intersections 1, 6, and 9 see the highest congestion. Traffic signal optimization and alternate routes could help manage peak-hour congestion. Late-night hours (12 AM - 5 AM) show minimal movement according to the dat</a:t>
            </a:r>
            <a:r>
              <a:rPr lang="en-US" altLang="en-US" sz="1300">
                <a:latin typeface="Aptos" panose="020B0004020202020204" pitchFamily="34" charset="0"/>
                <a:cs typeface="Arial" panose="020B0604020202020204" pitchFamily="34" charset="0"/>
              </a:rPr>
              <a:t>a given.</a:t>
            </a:r>
            <a:endParaRPr kumimoji="0" lang="en-US" altLang="en-US" sz="1300" b="0" i="0" u="none" strike="noStrike" cap="none" normalizeH="0" baseline="0">
              <a:ln>
                <a:noFill/>
              </a:ln>
              <a:solidFill>
                <a:schemeClr val="tx1"/>
              </a:solidFill>
              <a:effectLst/>
              <a:latin typeface="Aptos" panose="020B00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150434ED-A95A-6215-4592-D4898F9781DF}"/>
              </a:ext>
            </a:extLst>
          </p:cNvPr>
          <p:cNvPicPr>
            <a:picLocks noChangeAspect="1"/>
          </p:cNvPicPr>
          <p:nvPr/>
        </p:nvPicPr>
        <p:blipFill>
          <a:blip r:embed="rId7"/>
          <a:stretch>
            <a:fillRect/>
          </a:stretch>
        </p:blipFill>
        <p:spPr>
          <a:xfrm>
            <a:off x="4236180" y="1355502"/>
            <a:ext cx="1260617" cy="1654938"/>
          </a:xfrm>
          <a:prstGeom prst="rect">
            <a:avLst/>
          </a:prstGeom>
        </p:spPr>
      </p:pic>
      <p:sp>
        <p:nvSpPr>
          <p:cNvPr id="23" name="TextBox 22">
            <a:extLst>
              <a:ext uri="{FF2B5EF4-FFF2-40B4-BE49-F238E27FC236}">
                <a16:creationId xmlns:a16="http://schemas.microsoft.com/office/drawing/2014/main" id="{C79B9B4D-083F-2C75-C8B6-48880BC17A78}"/>
              </a:ext>
            </a:extLst>
          </p:cNvPr>
          <p:cNvSpPr txBox="1"/>
          <p:nvPr/>
        </p:nvSpPr>
        <p:spPr>
          <a:xfrm>
            <a:off x="-36628" y="6193501"/>
            <a:ext cx="5377916" cy="692497"/>
          </a:xfrm>
          <a:prstGeom prst="rect">
            <a:avLst/>
          </a:prstGeom>
          <a:noFill/>
        </p:spPr>
        <p:txBody>
          <a:bodyPr wrap="square">
            <a:spAutoFit/>
          </a:bodyPr>
          <a:lstStyle/>
          <a:p>
            <a:r>
              <a:rPr lang="en-US" sz="1300" b="0">
                <a:effectLst/>
                <a:latin typeface="Aptos" panose="020B0004020202020204" pitchFamily="34" charset="0"/>
                <a:cs typeface="Arial" panose="020B0604020202020204" pitchFamily="34" charset="0"/>
              </a:rPr>
              <a:t>High-Traffic Intersections is likely major roads, commercial areas, or busy urban centers. Low-Traffic Intersections is intersections may be in residential or less busy areas.</a:t>
            </a:r>
            <a:endParaRPr lang="en-IN" sz="1300"/>
          </a:p>
        </p:txBody>
      </p:sp>
      <p:sp>
        <p:nvSpPr>
          <p:cNvPr id="25" name="TextBox 24">
            <a:extLst>
              <a:ext uri="{FF2B5EF4-FFF2-40B4-BE49-F238E27FC236}">
                <a16:creationId xmlns:a16="http://schemas.microsoft.com/office/drawing/2014/main" id="{7B518935-BEC2-770A-1A17-3D86F111DB27}"/>
              </a:ext>
            </a:extLst>
          </p:cNvPr>
          <p:cNvSpPr txBox="1"/>
          <p:nvPr/>
        </p:nvSpPr>
        <p:spPr>
          <a:xfrm>
            <a:off x="9853918" y="3900840"/>
            <a:ext cx="2545080" cy="1092607"/>
          </a:xfrm>
          <a:prstGeom prst="rect">
            <a:avLst/>
          </a:prstGeom>
          <a:noFill/>
        </p:spPr>
        <p:txBody>
          <a:bodyPr wrap="square">
            <a:spAutoFit/>
          </a:bodyPr>
          <a:lstStyle/>
          <a:p>
            <a:r>
              <a:rPr lang="en-US" sz="1300">
                <a:latin typeface="Aptos" panose="020B0004020202020204" pitchFamily="34" charset="0"/>
              </a:rPr>
              <a:t>The above correlation explains that 62 %-time vehicle are passing green light signal and 48% wait in red light signal for total intersection.</a:t>
            </a:r>
            <a:endParaRPr lang="en-IN" sz="1300">
              <a:latin typeface="Aptos" panose="020B0004020202020204" pitchFamily="34" charset="0"/>
            </a:endParaRPr>
          </a:p>
        </p:txBody>
      </p:sp>
      <p:sp>
        <p:nvSpPr>
          <p:cNvPr id="27" name="TextBox 26">
            <a:extLst>
              <a:ext uri="{FF2B5EF4-FFF2-40B4-BE49-F238E27FC236}">
                <a16:creationId xmlns:a16="http://schemas.microsoft.com/office/drawing/2014/main" id="{EE426D1E-87A6-31BE-7339-90FBF9C43CC7}"/>
              </a:ext>
            </a:extLst>
          </p:cNvPr>
          <p:cNvSpPr txBox="1"/>
          <p:nvPr/>
        </p:nvSpPr>
        <p:spPr>
          <a:xfrm>
            <a:off x="9538351" y="274984"/>
            <a:ext cx="2434922" cy="3293209"/>
          </a:xfrm>
          <a:prstGeom prst="rect">
            <a:avLst/>
          </a:prstGeom>
          <a:noFill/>
        </p:spPr>
        <p:txBody>
          <a:bodyPr wrap="square">
            <a:spAutoFit/>
          </a:bodyPr>
          <a:lstStyle/>
          <a:p>
            <a:r>
              <a:rPr lang="en-US" sz="1300">
                <a:latin typeface="Aptos" panose="020B0004020202020204" pitchFamily="34" charset="0"/>
              </a:rPr>
              <a:t>Intersection_4 , Intersection_6 : Efficiently managed signals help traffic move smoothly.</a:t>
            </a:r>
          </a:p>
          <a:p>
            <a:endParaRPr lang="en-US" sz="1300">
              <a:latin typeface="Aptos" panose="020B0004020202020204" pitchFamily="34" charset="0"/>
            </a:endParaRPr>
          </a:p>
          <a:p>
            <a:r>
              <a:rPr lang="en-US" sz="1300">
                <a:latin typeface="Aptos" panose="020B0004020202020204" pitchFamily="34" charset="0"/>
              </a:rPr>
              <a:t>Intersection_2, Intersection_10 Shorter green lights may restrict flow, leading to potential congestion.</a:t>
            </a:r>
          </a:p>
          <a:p>
            <a:endParaRPr lang="en-US" sz="1300">
              <a:latin typeface="Aptos" panose="020B0004020202020204" pitchFamily="34" charset="0"/>
            </a:endParaRPr>
          </a:p>
          <a:p>
            <a:r>
              <a:rPr lang="en-US" sz="1300">
                <a:latin typeface="Aptos" panose="020B0004020202020204" pitchFamily="34" charset="0"/>
              </a:rPr>
              <a:t>Intersection_3, Intersection_4 Long red lights cause buildup, slowing down overall movement.</a:t>
            </a:r>
          </a:p>
          <a:p>
            <a:r>
              <a:rPr lang="en-US" sz="1300">
                <a:latin typeface="Aptos" panose="020B0004020202020204" pitchFamily="34" charset="0"/>
              </a:rPr>
              <a:t>Intersection_9 Shorter red lights allow more vehicles to pass through.</a:t>
            </a:r>
            <a:endParaRPr lang="en-IN" sz="1300">
              <a:latin typeface="Aptos" panose="020B0004020202020204" pitchFamily="34" charset="0"/>
            </a:endParaRPr>
          </a:p>
        </p:txBody>
      </p:sp>
      <p:sp>
        <p:nvSpPr>
          <p:cNvPr id="28" name="TextBox 27">
            <a:extLst>
              <a:ext uri="{FF2B5EF4-FFF2-40B4-BE49-F238E27FC236}">
                <a16:creationId xmlns:a16="http://schemas.microsoft.com/office/drawing/2014/main" id="{39ED3B8D-D95E-D1BC-1F9F-A04B555A9722}"/>
              </a:ext>
            </a:extLst>
          </p:cNvPr>
          <p:cNvSpPr txBox="1"/>
          <p:nvPr/>
        </p:nvSpPr>
        <p:spPr>
          <a:xfrm>
            <a:off x="5262728" y="4353482"/>
            <a:ext cx="3873914" cy="2786725"/>
          </a:xfrm>
          <a:prstGeom prst="rect">
            <a:avLst/>
          </a:prstGeom>
          <a:noFill/>
        </p:spPr>
        <p:txBody>
          <a:bodyPr wrap="square">
            <a:spAutoFit/>
          </a:bodyPr>
          <a:lstStyle/>
          <a:p>
            <a:pPr>
              <a:lnSpc>
                <a:spcPts val="1425"/>
              </a:lnSpc>
            </a:pPr>
            <a:r>
              <a:rPr lang="en-US" sz="1300" b="0">
                <a:effectLst/>
                <a:latin typeface="Aptos" panose="020B0004020202020204" pitchFamily="34" charset="0"/>
                <a:cs typeface="Arial" panose="020B0604020202020204" pitchFamily="34" charset="0"/>
              </a:rPr>
              <a:t>I1: Two wheelers and company bus and transport are mostly observed : Employers and Commuters, I2: Employers are on two-wheelers but no Company Bus services. I3: Employers prefer two-wheelers and professional on car and same amount of people on ride share. I4: Riders are more here and then car and company bus which means that here can be EY's office. I5: Commuters and Professional. I6: Employers and Professional. I7: Balanced Number of vehicle count. I8: More Professional and commuters on ride share and public transport. I9: Employers are more here may be a Common Rental Place. I10: Professional and Employers on company bus.</a:t>
            </a:r>
            <a:br>
              <a:rPr lang="en-US" sz="1300" b="0">
                <a:effectLst/>
                <a:latin typeface="Aptos" panose="020B0004020202020204" pitchFamily="34" charset="0"/>
                <a:cs typeface="Arial" panose="020B0604020202020204" pitchFamily="34" charset="0"/>
              </a:rPr>
            </a:br>
            <a:endParaRPr lang="en-US" sz="1300" b="0">
              <a:effectLst/>
              <a:latin typeface="Aptos" panose="020B00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CE6E385A-A844-E5A3-B01E-7CC91CD93979}"/>
              </a:ext>
            </a:extLst>
          </p:cNvPr>
          <p:cNvSpPr txBox="1"/>
          <p:nvPr/>
        </p:nvSpPr>
        <p:spPr>
          <a:xfrm>
            <a:off x="3750158" y="-1501"/>
            <a:ext cx="1981199" cy="369332"/>
          </a:xfrm>
          <a:prstGeom prst="rect">
            <a:avLst/>
          </a:prstGeom>
          <a:noFill/>
        </p:spPr>
        <p:txBody>
          <a:bodyPr wrap="square">
            <a:spAutoFit/>
          </a:bodyPr>
          <a:lstStyle/>
          <a:p>
            <a:r>
              <a:rPr lang="en-IN">
                <a:latin typeface="Aptos" panose="020B0004020202020204" pitchFamily="34" charset="0"/>
                <a:ea typeface="Aptos" panose="020B0004020202020204" pitchFamily="34" charset="0"/>
                <a:cs typeface="Arial" panose="020B0604020202020204" pitchFamily="34" charset="0"/>
              </a:rPr>
              <a:t>Link: </a:t>
            </a:r>
            <a:r>
              <a:rPr lang="en-IN" err="1">
                <a:latin typeface="Aptos" panose="020B0004020202020204" pitchFamily="34" charset="0"/>
                <a:ea typeface="Aptos" panose="020B0004020202020204" pitchFamily="34" charset="0"/>
                <a:cs typeface="Arial" panose="020B0604020202020204" pitchFamily="34" charset="0"/>
                <a:hlinkClick r:id="rId8"/>
              </a:rPr>
              <a:t>Traffic.ipynb</a:t>
            </a:r>
            <a:endParaRPr lang="en-IN"/>
          </a:p>
        </p:txBody>
      </p:sp>
    </p:spTree>
    <p:extLst>
      <p:ext uri="{BB962C8B-B14F-4D97-AF65-F5344CB8AC3E}">
        <p14:creationId xmlns:p14="http://schemas.microsoft.com/office/powerpoint/2010/main" val="3073757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FF611-5BAD-698A-C1B3-4C13CB61D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AA7CD-C4E2-5165-A5C9-E11B91D406FD}"/>
              </a:ext>
            </a:extLst>
          </p:cNvPr>
          <p:cNvSpPr>
            <a:spLocks noGrp="1"/>
          </p:cNvSpPr>
          <p:nvPr>
            <p:ph type="ctrTitle"/>
          </p:nvPr>
        </p:nvSpPr>
        <p:spPr>
          <a:xfrm>
            <a:off x="-88490" y="0"/>
            <a:ext cx="3667432" cy="383458"/>
          </a:xfrm>
        </p:spPr>
        <p:txBody>
          <a:bodyPr>
            <a:normAutofit fontScale="90000"/>
          </a:bodyPr>
          <a:lstStyle/>
          <a:p>
            <a:r>
              <a:rPr lang="en-US" sz="2400">
                <a:latin typeface="Aptos" panose="020B0004020202020204" pitchFamily="34" charset="0"/>
              </a:rPr>
              <a:t>Aditya Shriwal (22BCE2132)</a:t>
            </a:r>
            <a:endParaRPr lang="en-IN" sz="2400">
              <a:latin typeface="Aptos" panose="020B0004020202020204" pitchFamily="34" charset="0"/>
            </a:endParaRPr>
          </a:p>
        </p:txBody>
      </p:sp>
      <p:sp>
        <p:nvSpPr>
          <p:cNvPr id="3" name="Subtitle 2">
            <a:extLst>
              <a:ext uri="{FF2B5EF4-FFF2-40B4-BE49-F238E27FC236}">
                <a16:creationId xmlns:a16="http://schemas.microsoft.com/office/drawing/2014/main" id="{071402F3-F220-77A3-A4F5-5B40C4A75549}"/>
              </a:ext>
            </a:extLst>
          </p:cNvPr>
          <p:cNvSpPr>
            <a:spLocks noGrp="1"/>
          </p:cNvSpPr>
          <p:nvPr>
            <p:ph type="subTitle" idx="1"/>
          </p:nvPr>
        </p:nvSpPr>
        <p:spPr>
          <a:xfrm>
            <a:off x="70663" y="458327"/>
            <a:ext cx="6776720" cy="409639"/>
          </a:xfrm>
        </p:spPr>
        <p:txBody>
          <a:bodyPr>
            <a:normAutofit/>
          </a:bodyPr>
          <a:lstStyle/>
          <a:p>
            <a:r>
              <a:rPr lang="en-IN" sz="1800" b="1">
                <a:effectLst/>
                <a:latin typeface="Aptos" panose="020B0004020202020204" pitchFamily="34" charset="0"/>
                <a:ea typeface="Aptos" panose="020B0004020202020204" pitchFamily="34" charset="0"/>
                <a:cs typeface="Arial" panose="020B0604020202020204" pitchFamily="34" charset="0"/>
              </a:rPr>
              <a:t>Optimization Strategy to improve traffic flow based on analysis</a:t>
            </a:r>
            <a:endParaRPr lang="en-IN" sz="3200"/>
          </a:p>
        </p:txBody>
      </p:sp>
      <p:pic>
        <p:nvPicPr>
          <p:cNvPr id="13" name="Picture 12">
            <a:extLst>
              <a:ext uri="{FF2B5EF4-FFF2-40B4-BE49-F238E27FC236}">
                <a16:creationId xmlns:a16="http://schemas.microsoft.com/office/drawing/2014/main" id="{08002F2A-CB08-F99D-F1F8-D32A35F38E78}"/>
              </a:ext>
            </a:extLst>
          </p:cNvPr>
          <p:cNvPicPr>
            <a:picLocks noChangeAspect="1"/>
          </p:cNvPicPr>
          <p:nvPr/>
        </p:nvPicPr>
        <p:blipFill>
          <a:blip r:embed="rId3"/>
          <a:stretch>
            <a:fillRect/>
          </a:stretch>
        </p:blipFill>
        <p:spPr>
          <a:xfrm>
            <a:off x="6987860" y="155628"/>
            <a:ext cx="5204140" cy="3173433"/>
          </a:xfrm>
          <a:prstGeom prst="rect">
            <a:avLst/>
          </a:prstGeom>
        </p:spPr>
      </p:pic>
      <p:pic>
        <p:nvPicPr>
          <p:cNvPr id="15" name="Picture 14">
            <a:extLst>
              <a:ext uri="{FF2B5EF4-FFF2-40B4-BE49-F238E27FC236}">
                <a16:creationId xmlns:a16="http://schemas.microsoft.com/office/drawing/2014/main" id="{FE59DF5E-A4B5-80F8-C6CD-591350BFBAE8}"/>
              </a:ext>
            </a:extLst>
          </p:cNvPr>
          <p:cNvPicPr>
            <a:picLocks noChangeAspect="1"/>
          </p:cNvPicPr>
          <p:nvPr/>
        </p:nvPicPr>
        <p:blipFill>
          <a:blip r:embed="rId4"/>
          <a:stretch>
            <a:fillRect/>
          </a:stretch>
        </p:blipFill>
        <p:spPr>
          <a:xfrm>
            <a:off x="70663" y="5509020"/>
            <a:ext cx="2495898" cy="1219370"/>
          </a:xfrm>
          <a:prstGeom prst="rect">
            <a:avLst/>
          </a:prstGeom>
        </p:spPr>
      </p:pic>
      <p:pic>
        <p:nvPicPr>
          <p:cNvPr id="17" name="Picture 16">
            <a:extLst>
              <a:ext uri="{FF2B5EF4-FFF2-40B4-BE49-F238E27FC236}">
                <a16:creationId xmlns:a16="http://schemas.microsoft.com/office/drawing/2014/main" id="{F6E77723-2252-7B1D-4709-E53CEE44F1D3}"/>
              </a:ext>
            </a:extLst>
          </p:cNvPr>
          <p:cNvPicPr>
            <a:picLocks noChangeAspect="1"/>
          </p:cNvPicPr>
          <p:nvPr/>
        </p:nvPicPr>
        <p:blipFill>
          <a:blip r:embed="rId5"/>
          <a:stretch>
            <a:fillRect/>
          </a:stretch>
        </p:blipFill>
        <p:spPr>
          <a:xfrm>
            <a:off x="2580426" y="5504469"/>
            <a:ext cx="2343477" cy="485843"/>
          </a:xfrm>
          <a:prstGeom prst="rect">
            <a:avLst/>
          </a:prstGeom>
        </p:spPr>
      </p:pic>
      <p:sp>
        <p:nvSpPr>
          <p:cNvPr id="23" name="TextBox 22">
            <a:extLst>
              <a:ext uri="{FF2B5EF4-FFF2-40B4-BE49-F238E27FC236}">
                <a16:creationId xmlns:a16="http://schemas.microsoft.com/office/drawing/2014/main" id="{4289FA6F-35C4-A225-5DB8-5DBFA28A55E4}"/>
              </a:ext>
            </a:extLst>
          </p:cNvPr>
          <p:cNvSpPr txBox="1"/>
          <p:nvPr/>
        </p:nvSpPr>
        <p:spPr>
          <a:xfrm>
            <a:off x="55324" y="3649760"/>
            <a:ext cx="6156960" cy="369332"/>
          </a:xfrm>
          <a:prstGeom prst="rect">
            <a:avLst/>
          </a:prstGeom>
          <a:noFill/>
        </p:spPr>
        <p:txBody>
          <a:bodyPr wrap="square">
            <a:spAutoFit/>
          </a:bodyPr>
          <a:lstStyle/>
          <a:p>
            <a:r>
              <a:rPr lang="en-IN" sz="1800" b="1">
                <a:effectLst/>
                <a:latin typeface="Aptos" panose="020B0004020202020204" pitchFamily="34" charset="0"/>
                <a:ea typeface="Aptos" panose="020B0004020202020204" pitchFamily="34" charset="0"/>
                <a:cs typeface="Arial" panose="020B0604020202020204" pitchFamily="34" charset="0"/>
              </a:rPr>
              <a:t>Proposed strategies with data-driven insights</a:t>
            </a:r>
            <a:endParaRPr lang="en-IN" b="1"/>
          </a:p>
        </p:txBody>
      </p:sp>
      <p:pic>
        <p:nvPicPr>
          <p:cNvPr id="24" name="Picture 23">
            <a:extLst>
              <a:ext uri="{FF2B5EF4-FFF2-40B4-BE49-F238E27FC236}">
                <a16:creationId xmlns:a16="http://schemas.microsoft.com/office/drawing/2014/main" id="{443B7D2F-78AD-00AF-F25B-25CF6F202A57}"/>
              </a:ext>
            </a:extLst>
          </p:cNvPr>
          <p:cNvPicPr>
            <a:picLocks noChangeAspect="1"/>
          </p:cNvPicPr>
          <p:nvPr/>
        </p:nvPicPr>
        <p:blipFill>
          <a:blip r:embed="rId6"/>
          <a:stretch>
            <a:fillRect/>
          </a:stretch>
        </p:blipFill>
        <p:spPr>
          <a:xfrm>
            <a:off x="4968116" y="3739417"/>
            <a:ext cx="3618144" cy="2257518"/>
          </a:xfrm>
          <a:prstGeom prst="rect">
            <a:avLst/>
          </a:prstGeom>
        </p:spPr>
      </p:pic>
      <p:sp>
        <p:nvSpPr>
          <p:cNvPr id="26" name="TextBox 25">
            <a:extLst>
              <a:ext uri="{FF2B5EF4-FFF2-40B4-BE49-F238E27FC236}">
                <a16:creationId xmlns:a16="http://schemas.microsoft.com/office/drawing/2014/main" id="{841F89D3-9270-CB4B-7DCA-BD43A7F3F3AE}"/>
              </a:ext>
            </a:extLst>
          </p:cNvPr>
          <p:cNvSpPr txBox="1"/>
          <p:nvPr/>
        </p:nvSpPr>
        <p:spPr>
          <a:xfrm>
            <a:off x="5201919" y="6209929"/>
            <a:ext cx="7118463" cy="523220"/>
          </a:xfrm>
          <a:prstGeom prst="rect">
            <a:avLst/>
          </a:prstGeom>
          <a:noFill/>
        </p:spPr>
        <p:txBody>
          <a:bodyPr wrap="square" rtlCol="0">
            <a:spAutoFit/>
          </a:bodyPr>
          <a:lstStyle/>
          <a:p>
            <a:r>
              <a:rPr lang="en-US" sz="1400">
                <a:latin typeface="Aptos" panose="020B0004020202020204" pitchFamily="34" charset="0"/>
              </a:rPr>
              <a:t>Delta Algorithm for optimizing the duration of traffic light based on vehicle count at each intersection point. The Congestion ratio decrease around by 35% by our algorithm.</a:t>
            </a:r>
            <a:endParaRPr lang="en-IN" sz="1400">
              <a:latin typeface="Aptos" panose="020B0004020202020204" pitchFamily="34" charset="0"/>
            </a:endParaRPr>
          </a:p>
        </p:txBody>
      </p:sp>
      <p:pic>
        <p:nvPicPr>
          <p:cNvPr id="27" name="Picture 26">
            <a:extLst>
              <a:ext uri="{FF2B5EF4-FFF2-40B4-BE49-F238E27FC236}">
                <a16:creationId xmlns:a16="http://schemas.microsoft.com/office/drawing/2014/main" id="{C2D6597B-6F9E-05C2-EC36-EC0EFC18AF3E}"/>
              </a:ext>
            </a:extLst>
          </p:cNvPr>
          <p:cNvPicPr>
            <a:picLocks noChangeAspect="1"/>
          </p:cNvPicPr>
          <p:nvPr/>
        </p:nvPicPr>
        <p:blipFill>
          <a:blip r:embed="rId7"/>
          <a:stretch>
            <a:fillRect/>
          </a:stretch>
        </p:blipFill>
        <p:spPr>
          <a:xfrm>
            <a:off x="8630473" y="3714954"/>
            <a:ext cx="3596047" cy="2275358"/>
          </a:xfrm>
          <a:prstGeom prst="rect">
            <a:avLst/>
          </a:prstGeom>
        </p:spPr>
      </p:pic>
      <p:sp>
        <p:nvSpPr>
          <p:cNvPr id="29" name="TextBox 28">
            <a:extLst>
              <a:ext uri="{FF2B5EF4-FFF2-40B4-BE49-F238E27FC236}">
                <a16:creationId xmlns:a16="http://schemas.microsoft.com/office/drawing/2014/main" id="{146B515F-84B3-537B-B316-A3C029963CA1}"/>
              </a:ext>
            </a:extLst>
          </p:cNvPr>
          <p:cNvSpPr txBox="1"/>
          <p:nvPr/>
        </p:nvSpPr>
        <p:spPr>
          <a:xfrm>
            <a:off x="2580426" y="6029932"/>
            <a:ext cx="2245428" cy="692497"/>
          </a:xfrm>
          <a:prstGeom prst="rect">
            <a:avLst/>
          </a:prstGeom>
          <a:noFill/>
        </p:spPr>
        <p:txBody>
          <a:bodyPr wrap="square">
            <a:spAutoFit/>
          </a:bodyPr>
          <a:lstStyle/>
          <a:p>
            <a:r>
              <a:rPr lang="en-US" sz="1300">
                <a:latin typeface="Aptos" panose="020B0004020202020204" pitchFamily="34" charset="0"/>
              </a:rPr>
              <a:t> Here, we use sum of vehicle count by scaling factor for getting optimized time.</a:t>
            </a:r>
          </a:p>
        </p:txBody>
      </p:sp>
      <p:sp>
        <p:nvSpPr>
          <p:cNvPr id="31" name="TextBox 30">
            <a:extLst>
              <a:ext uri="{FF2B5EF4-FFF2-40B4-BE49-F238E27FC236}">
                <a16:creationId xmlns:a16="http://schemas.microsoft.com/office/drawing/2014/main" id="{01060E4C-0B88-C146-223A-39C241CF0381}"/>
              </a:ext>
            </a:extLst>
          </p:cNvPr>
          <p:cNvSpPr txBox="1"/>
          <p:nvPr/>
        </p:nvSpPr>
        <p:spPr>
          <a:xfrm>
            <a:off x="0" y="3977838"/>
            <a:ext cx="4805534" cy="1492716"/>
          </a:xfrm>
          <a:prstGeom prst="rect">
            <a:avLst/>
          </a:prstGeom>
          <a:noFill/>
        </p:spPr>
        <p:txBody>
          <a:bodyPr wrap="square">
            <a:spAutoFit/>
          </a:bodyPr>
          <a:lstStyle/>
          <a:p>
            <a:r>
              <a:rPr lang="en-US" sz="1300">
                <a:latin typeface="Aptos" panose="020B0004020202020204" pitchFamily="34" charset="0"/>
              </a:rPr>
              <a:t>Intersection 4 requires better ride-sharing . Intersection 1 &amp; Intersection 8 need optimized two-wheeler lanes and carpooling measures. Public transport (bus, metro) expansion can further reduce traffic congestion across high-traffic intersections. Company bus routes should be expanded for improved employee commuting. Intersection 10 should have dedicated lane for heavy vehicle. </a:t>
            </a:r>
            <a:endParaRPr lang="en-IN" sz="1300">
              <a:latin typeface="Aptos" panose="020B0004020202020204" pitchFamily="34" charset="0"/>
            </a:endParaRPr>
          </a:p>
        </p:txBody>
      </p:sp>
      <p:sp>
        <p:nvSpPr>
          <p:cNvPr id="32" name="TextBox 31">
            <a:extLst>
              <a:ext uri="{FF2B5EF4-FFF2-40B4-BE49-F238E27FC236}">
                <a16:creationId xmlns:a16="http://schemas.microsoft.com/office/drawing/2014/main" id="{141DA596-A3DF-93DD-638F-9460373C215C}"/>
              </a:ext>
            </a:extLst>
          </p:cNvPr>
          <p:cNvSpPr txBox="1"/>
          <p:nvPr/>
        </p:nvSpPr>
        <p:spPr>
          <a:xfrm>
            <a:off x="55324" y="861065"/>
            <a:ext cx="7047235" cy="2693045"/>
          </a:xfrm>
          <a:prstGeom prst="rect">
            <a:avLst/>
          </a:prstGeom>
          <a:noFill/>
        </p:spPr>
        <p:txBody>
          <a:bodyPr wrap="square">
            <a:spAutoFit/>
          </a:bodyPr>
          <a:lstStyle/>
          <a:p>
            <a:r>
              <a:rPr lang="en-IN" sz="1300">
                <a:latin typeface="Aptos" panose="020B0004020202020204" pitchFamily="34" charset="0"/>
                <a:ea typeface="Aptos" panose="020B0004020202020204" pitchFamily="34" charset="0"/>
                <a:cs typeface="Arial" panose="020B0604020202020204" pitchFamily="34" charset="0"/>
              </a:rPr>
              <a:t>By A</a:t>
            </a:r>
            <a:r>
              <a:rPr lang="en-IN" sz="1300">
                <a:effectLst/>
                <a:latin typeface="Aptos" panose="020B0004020202020204" pitchFamily="34" charset="0"/>
                <a:ea typeface="Aptos" panose="020B0004020202020204" pitchFamily="34" charset="0"/>
                <a:cs typeface="Arial" panose="020B0604020202020204" pitchFamily="34" charset="0"/>
              </a:rPr>
              <a:t>djusting traffic signal timings, implementing adaptive traffic control systems, and optimizing intersection layouts. </a:t>
            </a:r>
            <a:r>
              <a:rPr lang="en-IN" sz="1300">
                <a:latin typeface="Aptos" panose="020B0004020202020204" pitchFamily="34" charset="0"/>
                <a:cs typeface="Arial" panose="020B0604020202020204" pitchFamily="34" charset="0"/>
              </a:rPr>
              <a:t>When there is peak hours the count of traffic police should increase.</a:t>
            </a:r>
          </a:p>
          <a:p>
            <a:endParaRPr lang="en-IN" sz="1300">
              <a:latin typeface="Aptos" panose="020B0004020202020204" pitchFamily="34" charset="0"/>
              <a:cs typeface="Arial" panose="020B0604020202020204" pitchFamily="34" charset="0"/>
            </a:endParaRPr>
          </a:p>
          <a:p>
            <a:r>
              <a:rPr lang="en-US" sz="1300" b="1"/>
              <a:t>ITS</a:t>
            </a:r>
            <a:r>
              <a:rPr lang="en-US" sz="1300"/>
              <a:t>: For communication, sensing, and control technologies that manage </a:t>
            </a:r>
            <a:r>
              <a:rPr lang="en-US" sz="1300">
                <a:latin typeface="Aptos" panose="020B0004020202020204" pitchFamily="34" charset="0"/>
              </a:rPr>
              <a:t>traffic</a:t>
            </a:r>
            <a:r>
              <a:rPr lang="en-US" sz="1300"/>
              <a:t> in real-time, ITS assumes the interpretation of traffic conditions using road sensors, GPS devices, traffic cameras, or other sources, updating traffic signal settings accordingly. ITS can reduce congestion, improve road safety, and enhance the effectiveness of public transportation systems.</a:t>
            </a:r>
          </a:p>
          <a:p>
            <a:endParaRPr lang="en-US" sz="1300"/>
          </a:p>
          <a:p>
            <a:r>
              <a:rPr lang="en-US" sz="1300" b="1"/>
              <a:t>Adaptive Traffic Signal Control</a:t>
            </a:r>
            <a:r>
              <a:rPr lang="en-US" sz="1300"/>
              <a:t>: ATSC systems are basically the development and advancements of conventional traffic signal systems. Unlike pre-timed signals, ATSC systems change the signal timings according to real-time traffic data. The systems decrease waiting periods for automobiles and pedestrians and have been found very effective where at off-peak hours, the traffic volume varies.</a:t>
            </a:r>
            <a:endParaRPr lang="en-IN" sz="1300"/>
          </a:p>
        </p:txBody>
      </p:sp>
      <p:sp>
        <p:nvSpPr>
          <p:cNvPr id="33" name="TextBox 32">
            <a:extLst>
              <a:ext uri="{FF2B5EF4-FFF2-40B4-BE49-F238E27FC236}">
                <a16:creationId xmlns:a16="http://schemas.microsoft.com/office/drawing/2014/main" id="{68F91C5D-0433-79E2-92E2-874A14F4A9BD}"/>
              </a:ext>
            </a:extLst>
          </p:cNvPr>
          <p:cNvSpPr txBox="1"/>
          <p:nvPr/>
        </p:nvSpPr>
        <p:spPr>
          <a:xfrm>
            <a:off x="5275958" y="3349573"/>
            <a:ext cx="3002460" cy="369332"/>
          </a:xfrm>
          <a:prstGeom prst="rect">
            <a:avLst/>
          </a:prstGeom>
          <a:noFill/>
        </p:spPr>
        <p:txBody>
          <a:bodyPr wrap="square">
            <a:spAutoFit/>
          </a:bodyPr>
          <a:lstStyle/>
          <a:p>
            <a:r>
              <a:rPr lang="en-IN" sz="1800">
                <a:effectLst/>
                <a:latin typeface="Aptos" panose="020B0004020202020204" pitchFamily="34" charset="0"/>
                <a:ea typeface="Aptos" panose="020B0004020202020204" pitchFamily="34" charset="0"/>
                <a:cs typeface="Arial" panose="020B0604020202020204" pitchFamily="34" charset="0"/>
              </a:rPr>
              <a:t>Previous Congestion Graph</a:t>
            </a:r>
            <a:endParaRPr lang="en-IN"/>
          </a:p>
        </p:txBody>
      </p:sp>
      <p:sp>
        <p:nvSpPr>
          <p:cNvPr id="34" name="TextBox 33">
            <a:extLst>
              <a:ext uri="{FF2B5EF4-FFF2-40B4-BE49-F238E27FC236}">
                <a16:creationId xmlns:a16="http://schemas.microsoft.com/office/drawing/2014/main" id="{6D4259E8-B570-DCCF-8766-D8328D37A402}"/>
              </a:ext>
            </a:extLst>
          </p:cNvPr>
          <p:cNvSpPr txBox="1"/>
          <p:nvPr/>
        </p:nvSpPr>
        <p:spPr>
          <a:xfrm>
            <a:off x="8748842" y="3370085"/>
            <a:ext cx="3095736" cy="369332"/>
          </a:xfrm>
          <a:prstGeom prst="rect">
            <a:avLst/>
          </a:prstGeom>
          <a:noFill/>
        </p:spPr>
        <p:txBody>
          <a:bodyPr wrap="square">
            <a:spAutoFit/>
          </a:bodyPr>
          <a:lstStyle/>
          <a:p>
            <a:r>
              <a:rPr lang="en-IN" sz="1800">
                <a:effectLst/>
                <a:latin typeface="Aptos" panose="020B0004020202020204" pitchFamily="34" charset="0"/>
                <a:ea typeface="Aptos" panose="020B0004020202020204" pitchFamily="34" charset="0"/>
                <a:cs typeface="Arial" panose="020B0604020202020204" pitchFamily="34" charset="0"/>
              </a:rPr>
              <a:t>Optimised Congestion Graph</a:t>
            </a:r>
            <a:endParaRPr lang="en-IN"/>
          </a:p>
        </p:txBody>
      </p:sp>
    </p:spTree>
    <p:extLst>
      <p:ext uri="{BB962C8B-B14F-4D97-AF65-F5344CB8AC3E}">
        <p14:creationId xmlns:p14="http://schemas.microsoft.com/office/powerpoint/2010/main" val="130734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CA279-691C-24B2-5DB2-F7E5A65D4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EB8B1-B6FA-C438-0DDB-2CFFD44CE636}"/>
              </a:ext>
            </a:extLst>
          </p:cNvPr>
          <p:cNvSpPr>
            <a:spLocks noGrp="1"/>
          </p:cNvSpPr>
          <p:nvPr>
            <p:ph type="ctrTitle"/>
          </p:nvPr>
        </p:nvSpPr>
        <p:spPr>
          <a:xfrm>
            <a:off x="-88490" y="0"/>
            <a:ext cx="3667432" cy="383458"/>
          </a:xfrm>
        </p:spPr>
        <p:txBody>
          <a:bodyPr>
            <a:normAutofit fontScale="90000"/>
          </a:bodyPr>
          <a:lstStyle/>
          <a:p>
            <a:r>
              <a:rPr lang="en-US" sz="2400">
                <a:latin typeface="Aptos" panose="020B0004020202020204" pitchFamily="34" charset="0"/>
              </a:rPr>
              <a:t>Aditya Shriwal (22BCE2132)</a:t>
            </a:r>
            <a:endParaRPr lang="en-IN" sz="2400">
              <a:latin typeface="Aptos" panose="020B0004020202020204" pitchFamily="34" charset="0"/>
            </a:endParaRPr>
          </a:p>
        </p:txBody>
      </p:sp>
      <p:sp>
        <p:nvSpPr>
          <p:cNvPr id="3" name="Subtitle 2">
            <a:extLst>
              <a:ext uri="{FF2B5EF4-FFF2-40B4-BE49-F238E27FC236}">
                <a16:creationId xmlns:a16="http://schemas.microsoft.com/office/drawing/2014/main" id="{7AA9A216-51CE-B894-70A4-9A99E02CEF77}"/>
              </a:ext>
            </a:extLst>
          </p:cNvPr>
          <p:cNvSpPr>
            <a:spLocks noGrp="1"/>
          </p:cNvSpPr>
          <p:nvPr>
            <p:ph type="subTitle" idx="1"/>
          </p:nvPr>
        </p:nvSpPr>
        <p:spPr>
          <a:xfrm>
            <a:off x="3279386" y="469326"/>
            <a:ext cx="4906297" cy="501445"/>
          </a:xfrm>
        </p:spPr>
        <p:txBody>
          <a:bodyPr>
            <a:normAutofit lnSpcReduction="10000"/>
          </a:bodyPr>
          <a:lstStyle/>
          <a:p>
            <a:r>
              <a:rPr lang="en-IN" sz="2800" b="1">
                <a:effectLst/>
                <a:latin typeface="Aptos" panose="020B0004020202020204" pitchFamily="34" charset="0"/>
                <a:ea typeface="Aptos" panose="020B0004020202020204" pitchFamily="34" charset="0"/>
                <a:cs typeface="Arial" panose="020B0604020202020204" pitchFamily="34" charset="0"/>
              </a:rPr>
              <a:t>Final Conclusion Report</a:t>
            </a:r>
            <a:endParaRPr lang="en-IN" sz="3200"/>
          </a:p>
        </p:txBody>
      </p:sp>
      <p:sp>
        <p:nvSpPr>
          <p:cNvPr id="5" name="Title 1">
            <a:extLst>
              <a:ext uri="{FF2B5EF4-FFF2-40B4-BE49-F238E27FC236}">
                <a16:creationId xmlns:a16="http://schemas.microsoft.com/office/drawing/2014/main" id="{8B929747-109B-8D03-2419-0DF60402EE5A}"/>
              </a:ext>
            </a:extLst>
          </p:cNvPr>
          <p:cNvSpPr txBox="1">
            <a:spLocks/>
          </p:cNvSpPr>
          <p:nvPr/>
        </p:nvSpPr>
        <p:spPr>
          <a:xfrm>
            <a:off x="228436" y="5908531"/>
            <a:ext cx="11735128" cy="698091"/>
          </a:xfrm>
          <a:prstGeom prst="rect">
            <a:avLst/>
          </a:prstGeom>
          <a:effectLst>
            <a:outerShdw blurRad="25400" dir="17880000">
              <a:srgbClr val="000000">
                <a:alpha val="46000"/>
              </a:srgbClr>
            </a:outerShdw>
          </a:effectLst>
        </p:spPr>
        <p:txBody>
          <a:bodyPr vert="horz" lIns="91440" tIns="45720" rIns="91440" bIns="45720" rtlCol="0" anchor="b">
            <a:normAutofit fontScale="97500"/>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a:effectLst/>
                <a:latin typeface="Aptos" panose="020B0004020202020204" pitchFamily="34" charset="0"/>
                <a:ea typeface="Aptos" panose="020B0004020202020204" pitchFamily="34" charset="0"/>
                <a:cs typeface="Arial" panose="020B0604020202020204" pitchFamily="34" charset="0"/>
              </a:rPr>
              <a:t>Github link: </a:t>
            </a:r>
            <a:r>
              <a:rPr lang="en-IN" sz="2000">
                <a:effectLst/>
                <a:latin typeface="Aptos" panose="020B0004020202020204" pitchFamily="34" charset="0"/>
                <a:ea typeface="Aptos" panose="020B0004020202020204" pitchFamily="34" charset="0"/>
                <a:cs typeface="Arial" panose="020B0604020202020204" pitchFamily="34" charset="0"/>
                <a:hlinkClick r:id="rId2"/>
              </a:rPr>
              <a:t>https://github.com/Aditya-devop/Urban_Traffic_Analysis_Flow_Optimisation</a:t>
            </a:r>
            <a:r>
              <a:rPr lang="en-IN" sz="2000">
                <a:effectLst/>
                <a:latin typeface="Aptos" panose="020B0004020202020204" pitchFamily="34" charset="0"/>
                <a:ea typeface="Aptos" panose="020B0004020202020204" pitchFamily="34" charset="0"/>
                <a:cs typeface="Arial" panose="020B0604020202020204" pitchFamily="34" charset="0"/>
              </a:rPr>
              <a:t> </a:t>
            </a:r>
            <a:endParaRPr lang="en-IN" sz="2000">
              <a:latin typeface="Aptos" panose="020B0004020202020204" pitchFamily="34" charset="0"/>
            </a:endParaRPr>
          </a:p>
        </p:txBody>
      </p:sp>
      <p:sp>
        <p:nvSpPr>
          <p:cNvPr id="6" name="Rectangle 1">
            <a:extLst>
              <a:ext uri="{FF2B5EF4-FFF2-40B4-BE49-F238E27FC236}">
                <a16:creationId xmlns:a16="http://schemas.microsoft.com/office/drawing/2014/main" id="{1B913D43-BB3C-50DA-90BD-4A9411B3B10D}"/>
              </a:ext>
            </a:extLst>
          </p:cNvPr>
          <p:cNvSpPr>
            <a:spLocks noChangeArrowheads="1"/>
          </p:cNvSpPr>
          <p:nvPr/>
        </p:nvSpPr>
        <p:spPr bwMode="auto">
          <a:xfrm>
            <a:off x="0" y="574623"/>
            <a:ext cx="5941364"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a:ln>
                  <a:noFill/>
                </a:ln>
                <a:solidFill>
                  <a:schemeClr val="tx1"/>
                </a:solidFill>
                <a:effectLst/>
                <a:latin typeface="Aptos" panose="020B0004020202020204" pitchFamily="34" charset="0"/>
              </a:rPr>
              <a:t>Adaptive Traffic Signal Control: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00" b="0" i="0" u="none" strike="noStrike" cap="none" normalizeH="0" baseline="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a:ln>
                  <a:noFill/>
                </a:ln>
                <a:solidFill>
                  <a:schemeClr val="tx1"/>
                </a:solidFill>
                <a:effectLst/>
                <a:latin typeface="Aptos" panose="020B0004020202020204" pitchFamily="34" charset="0"/>
              </a:rPr>
              <a:t>Dynamic Adjustments:</a:t>
            </a:r>
            <a:r>
              <a:rPr kumimoji="0" lang="en-US" altLang="en-US" sz="1300" b="0" i="0" u="none" strike="noStrike" cap="none" normalizeH="0" baseline="0">
                <a:ln>
                  <a:noFill/>
                </a:ln>
                <a:solidFill>
                  <a:schemeClr val="tx1"/>
                </a:solidFill>
                <a:effectLst/>
                <a:latin typeface="Aptos" panose="020B0004020202020204" pitchFamily="34" charset="0"/>
              </a:rPr>
              <a:t> By leveraging real-time vehicle count data, the adaptive signal control system adjusts green and red-light durations based on current traffic conditions. When vehicle counts exceed short-term (rolling) averages, the system increases the green light duration and decreases the red-light duration to facilitate smoother traffic flow. Conversely, during lower traffic periods, the adjustments ensure that signal timings are balanced.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a:ln>
                  <a:noFill/>
                </a:ln>
                <a:solidFill>
                  <a:schemeClr val="tx1"/>
                </a:solidFill>
                <a:effectLst/>
                <a:latin typeface="Aptos" panose="020B0004020202020204" pitchFamily="34" charset="0"/>
              </a:rPr>
              <a:t>Scalable Approach:</a:t>
            </a:r>
            <a:r>
              <a:rPr kumimoji="0" lang="en-US" altLang="en-US" sz="1300" b="0" i="0" u="none" strike="noStrike" cap="none" normalizeH="0" baseline="0">
                <a:ln>
                  <a:noFill/>
                </a:ln>
                <a:solidFill>
                  <a:schemeClr val="tx1"/>
                </a:solidFill>
                <a:effectLst/>
                <a:latin typeface="Aptos" panose="020B0004020202020204" pitchFamily="34" charset="0"/>
              </a:rPr>
              <a:t> Using a scaling factor allows for fine-tuning the sensitivity of these adjustments, ensuring that the system can be calibrated to local traffic patterns and specific intersection characteristics.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00" b="0" i="0" u="none" strike="noStrike" cap="none" normalizeH="0" baseline="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a:ln>
                  <a:noFill/>
                </a:ln>
                <a:solidFill>
                  <a:schemeClr val="tx1"/>
                </a:solidFill>
                <a:effectLst/>
                <a:latin typeface="Aptos" panose="020B0004020202020204" pitchFamily="34" charset="0"/>
              </a:rPr>
              <a:t>Optimized Intersection Layout:</a:t>
            </a:r>
            <a:endParaRPr kumimoji="0" lang="en-US" altLang="en-US" sz="1300" b="0" i="0" u="none" strike="noStrike" cap="none" normalizeH="0" baseline="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a:ln>
                  <a:noFill/>
                </a:ln>
                <a:solidFill>
                  <a:schemeClr val="tx1"/>
                </a:solidFill>
                <a:effectLst/>
                <a:latin typeface="Aptos" panose="020B0004020202020204" pitchFamily="34" charset="0"/>
              </a:rPr>
              <a:t>Lane Recommendations:</a:t>
            </a:r>
            <a:r>
              <a:rPr kumimoji="0" lang="en-US" altLang="en-US" sz="1300" b="0" i="0" u="none" strike="noStrike" cap="none" normalizeH="0" baseline="0">
                <a:ln>
                  <a:noFill/>
                </a:ln>
                <a:solidFill>
                  <a:schemeClr val="tx1"/>
                </a:solidFill>
                <a:effectLst/>
                <a:latin typeface="Aptos" panose="020B0004020202020204" pitchFamily="34" charset="0"/>
              </a:rPr>
              <a:t> By analyzing the average hourly vehicle counts at each intersection, the model recommends the optimal number of lanes. A simple heuristic-dividing the average vehicle count by an assumed lane capacity (e.g., 500 vehicles per hour) and applying ceiling functions-yields a practical recommendation for adding lanes, subject to predefined minimum and maximum constraints.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00" b="0" i="0" u="none" strike="noStrike" cap="none" normalizeH="0" baseline="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a:ln>
                  <a:noFill/>
                </a:ln>
                <a:solidFill>
                  <a:schemeClr val="tx1"/>
                </a:solidFill>
                <a:effectLst/>
                <a:latin typeface="Aptos" panose="020B0004020202020204" pitchFamily="34" charset="0"/>
              </a:rPr>
              <a:t>Integrated Benefits:</a:t>
            </a:r>
            <a:endParaRPr kumimoji="0" lang="en-US" altLang="en-US" sz="1300" b="0" i="0" u="none" strike="noStrike" cap="none" normalizeH="0" baseline="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a:ln>
                  <a:noFill/>
                </a:ln>
                <a:solidFill>
                  <a:schemeClr val="tx1"/>
                </a:solidFill>
                <a:effectLst/>
                <a:latin typeface="Aptos" panose="020B0004020202020204" pitchFamily="34" charset="0"/>
              </a:rPr>
              <a:t>Enhanced Traffic Efficiency:</a:t>
            </a:r>
            <a:r>
              <a:rPr kumimoji="0" lang="en-US" altLang="en-US" sz="1300" b="0" i="0" u="none" strike="noStrike" cap="none" normalizeH="0" baseline="0">
                <a:ln>
                  <a:noFill/>
                </a:ln>
                <a:solidFill>
                  <a:schemeClr val="tx1"/>
                </a:solidFill>
                <a:effectLst/>
                <a:latin typeface="Aptos" panose="020B0004020202020204" pitchFamily="34" charset="0"/>
              </a:rPr>
              <a:t> The combination of adaptive signal control and optimized physical layouts is designed to reduce delays, clear congestion more effectively, and improve overall road throughput.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a:ln>
                  <a:noFill/>
                </a:ln>
                <a:solidFill>
                  <a:schemeClr val="tx1"/>
                </a:solidFill>
                <a:effectLst/>
                <a:latin typeface="Aptos" panose="020B0004020202020204" pitchFamily="34" charset="0"/>
              </a:rPr>
              <a:t>Data-Driven Decision Making:</a:t>
            </a:r>
            <a:r>
              <a:rPr kumimoji="0" lang="en-US" altLang="en-US" sz="1300" b="0" i="0" u="none" strike="noStrike" cap="none" normalizeH="0" baseline="0">
                <a:ln>
                  <a:noFill/>
                </a:ln>
                <a:solidFill>
                  <a:schemeClr val="tx1"/>
                </a:solidFill>
                <a:effectLst/>
                <a:latin typeface="Aptos" panose="020B0004020202020204" pitchFamily="34" charset="0"/>
              </a:rPr>
              <a:t> Our approach leverages real-time and historical traffic data to inform both dynamic signal adjustments and infrastructure planning, ensuring that interventions are grounded in actual traffic patterns.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300" b="0" i="0" u="none" strike="noStrike" cap="none" normalizeH="0" baseline="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a:ln>
                <a:noFill/>
              </a:ln>
              <a:solidFill>
                <a:schemeClr val="tx1"/>
              </a:solidFill>
              <a:effectLst/>
              <a:latin typeface="Aptos" panose="020B0004020202020204" pitchFamily="34" charset="0"/>
            </a:endParaRPr>
          </a:p>
        </p:txBody>
      </p:sp>
      <p:pic>
        <p:nvPicPr>
          <p:cNvPr id="3077" name="Picture 5" descr="Second intersection design concept, resurfacing review | Let's Talk  Transportation - MnDOT">
            <a:extLst>
              <a:ext uri="{FF2B5EF4-FFF2-40B4-BE49-F238E27FC236}">
                <a16:creationId xmlns:a16="http://schemas.microsoft.com/office/drawing/2014/main" id="{20BB40A3-4343-47C3-1FE2-825EB73F78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4237" y="1236693"/>
            <a:ext cx="6119327" cy="4405915"/>
          </a:xfrm>
          <a:prstGeom prst="rect">
            <a:avLst/>
          </a:prstGeom>
          <a:solidFill>
            <a:schemeClr val="tx1"/>
          </a:solidFill>
        </p:spPr>
      </p:pic>
      <p:sp>
        <p:nvSpPr>
          <p:cNvPr id="10" name="TextBox 9">
            <a:extLst>
              <a:ext uri="{FF2B5EF4-FFF2-40B4-BE49-F238E27FC236}">
                <a16:creationId xmlns:a16="http://schemas.microsoft.com/office/drawing/2014/main" id="{9DA799DF-C8A1-FD32-2A08-2D652DE00382}"/>
              </a:ext>
            </a:extLst>
          </p:cNvPr>
          <p:cNvSpPr txBox="1"/>
          <p:nvPr/>
        </p:nvSpPr>
        <p:spPr>
          <a:xfrm>
            <a:off x="10129520" y="3747277"/>
            <a:ext cx="1432560" cy="646331"/>
          </a:xfrm>
          <a:prstGeom prst="rect">
            <a:avLst/>
          </a:prstGeom>
          <a:noFill/>
        </p:spPr>
        <p:txBody>
          <a:bodyPr wrap="square" rtlCol="0">
            <a:spAutoFit/>
          </a:bodyPr>
          <a:lstStyle/>
          <a:p>
            <a:r>
              <a:rPr lang="en-US">
                <a:highlight>
                  <a:srgbClr val="000000"/>
                </a:highlight>
              </a:rPr>
              <a:t>Optimized  Intersection</a:t>
            </a:r>
            <a:endParaRPr lang="en-IN">
              <a:highlight>
                <a:srgbClr val="000000"/>
              </a:highlight>
            </a:endParaRPr>
          </a:p>
        </p:txBody>
      </p:sp>
    </p:spTree>
    <p:extLst>
      <p:ext uri="{BB962C8B-B14F-4D97-AF65-F5344CB8AC3E}">
        <p14:creationId xmlns:p14="http://schemas.microsoft.com/office/powerpoint/2010/main" val="27938212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Slate</Template>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Slate</vt:lpstr>
      <vt:lpstr>Aditya Shriwal (22BCE2132)</vt:lpstr>
      <vt:lpstr>Aditya Shriwal (22BCE2132)</vt:lpstr>
      <vt:lpstr>Aditya Shriwal (22BCE2132)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Shriwal</dc:creator>
  <cp:revision>2</cp:revision>
  <dcterms:created xsi:type="dcterms:W3CDTF">2025-02-11T18:27:05Z</dcterms:created>
  <dcterms:modified xsi:type="dcterms:W3CDTF">2025-02-12T13:05:08Z</dcterms:modified>
</cp:coreProperties>
</file>